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 b="1">
                <a:solidFill>
                  <a:srgbClr val="12263F"/>
                </a:solidFill>
                <a:latin typeface="Aptos Display"/>
              </a:rPr>
              <a:t>Phase 0: Legal &amp; Assurance Gate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>
                <a:solidFill>
                  <a:srgbClr val="5A5A5A"/>
                </a:solidFill>
                <a:latin typeface="Aptos"/>
              </a:rPr>
              <a:t>Purpose: Establish legal, compliance, and risk clarity before any technical work begins.</a:t>
            </a:r>
          </a:p>
          <a:p>
            <a:pPr/>
            <a:r>
              <a:rPr sz="1800">
                <a:solidFill>
                  <a:srgbClr val="5A5A5A"/>
                </a:solidFill>
                <a:latin typeface="Aptos"/>
              </a:rPr>
              <a:t>Principle: No build starts without signed legal assurances.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12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812280"/>
            <a:ext cx="9144000" cy="45720"/>
          </a:xfrm>
          <a:prstGeom prst="rect">
            <a:avLst/>
          </a:prstGeom>
          <a:solidFill>
            <a:srgbClr val="12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A5A5A"/>
                </a:solidFill>
                <a:latin typeface="Aptos"/>
              </a:defRPr>
            </a:pPr>
            <a:r>
              <a:t>Cortex × OmnisArx | Phase 0 Legal &amp; Assurance Gate</a:t>
            </a:r>
          </a:p>
        </p:txBody>
      </p:sp>
      <p:pic>
        <p:nvPicPr>
          <p:cNvPr id="7" name="Picture 6" descr="WhatsApp Image 2026-03-30 at 16.09.15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65760"/>
            <a:ext cx="548640" cy="548640"/>
          </a:xfrm>
          <a:prstGeom prst="rect">
            <a:avLst/>
          </a:prstGeom>
        </p:spPr>
      </p:pic>
      <p:pic>
        <p:nvPicPr>
          <p:cNvPr id="8" name="Picture 7" descr="WhatsApp Image 2026-03-30 at 16.13.52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0" y="320040"/>
            <a:ext cx="640080" cy="6400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 b="1">
                <a:solidFill>
                  <a:srgbClr val="12263F"/>
                </a:solidFill>
                <a:latin typeface="Aptos Display"/>
              </a:rPr>
              <a:t>Phase 0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>
                <a:solidFill>
                  <a:srgbClr val="5A5A5A"/>
                </a:solidFill>
                <a:latin typeface="Aptos"/>
              </a:rPr>
              <a:t>Define **scope boundaries** and client responsibilities</a:t>
            </a:r>
          </a:p>
          <a:p>
            <a:pPr/>
            <a:r>
              <a:rPr sz="1800">
                <a:solidFill>
                  <a:srgbClr val="5A5A5A"/>
                </a:solidFill>
                <a:latin typeface="Aptos"/>
              </a:rPr>
              <a:t>Confirm **data protection obligations**</a:t>
            </a:r>
          </a:p>
          <a:p>
            <a:pPr/>
            <a:r>
              <a:rPr sz="1800">
                <a:solidFill>
                  <a:srgbClr val="5A5A5A"/>
                </a:solidFill>
                <a:latin typeface="Aptos"/>
              </a:rPr>
              <a:t>Verify **operator/third‑party compliance**</a:t>
            </a:r>
          </a:p>
          <a:p>
            <a:pPr/>
            <a:r>
              <a:rPr sz="1800">
                <a:solidFill>
                  <a:srgbClr val="5A5A5A"/>
                </a:solidFill>
                <a:latin typeface="Aptos"/>
              </a:rPr>
              <a:t>Establish **liability &amp; warranty limits**</a:t>
            </a:r>
          </a:p>
          <a:p>
            <a:pPr/>
            <a:r>
              <a:rPr sz="1800">
                <a:solidFill>
                  <a:srgbClr val="5A5A5A"/>
                </a:solidFill>
                <a:latin typeface="Aptos"/>
              </a:rPr>
              <a:t>Approve **security controls**</a:t>
            </a:r>
          </a:p>
          <a:p>
            <a:pPr/>
            <a:r>
              <a:rPr sz="1800">
                <a:solidFill>
                  <a:srgbClr val="5A5A5A"/>
                </a:solidFill>
                <a:latin typeface="Aptos"/>
              </a:rPr>
              <a:t>Confirm **IP ownership &amp; transparency**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12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812280"/>
            <a:ext cx="9144000" cy="45720"/>
          </a:xfrm>
          <a:prstGeom prst="rect">
            <a:avLst/>
          </a:prstGeom>
          <a:solidFill>
            <a:srgbClr val="12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A5A5A"/>
                </a:solidFill>
                <a:latin typeface="Aptos"/>
              </a:defRPr>
            </a:pPr>
            <a:r>
              <a:t>Cortex × OmnisArx | Phase 0 Legal &amp; Assurance Gate</a:t>
            </a:r>
          </a:p>
        </p:txBody>
      </p:sp>
      <p:pic>
        <p:nvPicPr>
          <p:cNvPr id="7" name="Picture 6" descr="WhatsApp Image 2026-03-30 at 16.13.52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0" y="256032"/>
            <a:ext cx="411480" cy="4114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 b="1">
                <a:solidFill>
                  <a:srgbClr val="12263F"/>
                </a:solidFill>
                <a:latin typeface="Aptos Display"/>
              </a:rPr>
              <a:t>Phase 0 Mandatory Deliverables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>
                <a:solidFill>
                  <a:srgbClr val="5A5A5A"/>
                </a:solidFill>
                <a:latin typeface="Aptos"/>
              </a:rPr>
              <a:t>All six must be approved before Phase 1:</a:t>
            </a:r>
          </a:p>
          <a:p>
            <a:pPr/>
            <a:r>
              <a:rPr sz="1800">
                <a:solidFill>
                  <a:srgbClr val="5A5A5A"/>
                </a:solidFill>
                <a:latin typeface="Aptos"/>
              </a:rPr>
              <a:t>1) Scope &amp; Responsibility Statement</a:t>
            </a:r>
          </a:p>
          <a:p>
            <a:pPr/>
            <a:r>
              <a:rPr sz="1800">
                <a:solidFill>
                  <a:srgbClr val="5A5A5A"/>
                </a:solidFill>
                <a:latin typeface="Aptos"/>
              </a:rPr>
              <a:t>2) Data Processing Annex (DPA)</a:t>
            </a:r>
          </a:p>
          <a:p>
            <a:pPr/>
            <a:r>
              <a:rPr sz="1800">
                <a:solidFill>
                  <a:srgbClr val="5A5A5A"/>
                </a:solidFill>
                <a:latin typeface="Aptos"/>
              </a:rPr>
              <a:t>3) Third‑Party Terms Compliance Review</a:t>
            </a:r>
          </a:p>
          <a:p>
            <a:pPr/>
            <a:r>
              <a:rPr sz="1800">
                <a:solidFill>
                  <a:srgbClr val="5A5A5A"/>
                </a:solidFill>
                <a:latin typeface="Aptos"/>
              </a:rPr>
              <a:t>4) Liability &amp; Warranty Boundary Clauses</a:t>
            </a:r>
          </a:p>
          <a:p>
            <a:pPr/>
            <a:r>
              <a:rPr sz="1800">
                <a:solidFill>
                  <a:srgbClr val="5A5A5A"/>
                </a:solidFill>
                <a:latin typeface="Aptos"/>
              </a:rPr>
              <a:t>5) Security Controls Statement</a:t>
            </a:r>
          </a:p>
          <a:p>
            <a:pPr/>
            <a:r>
              <a:rPr sz="1800">
                <a:solidFill>
                  <a:srgbClr val="5A5A5A"/>
                </a:solidFill>
                <a:latin typeface="Aptos"/>
              </a:rPr>
              <a:t>6) IP &amp; Ownership Addendum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12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812280"/>
            <a:ext cx="9144000" cy="45720"/>
          </a:xfrm>
          <a:prstGeom prst="rect">
            <a:avLst/>
          </a:prstGeom>
          <a:solidFill>
            <a:srgbClr val="12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A5A5A"/>
                </a:solidFill>
                <a:latin typeface="Aptos"/>
              </a:defRPr>
            </a:pPr>
            <a:r>
              <a:t>Cortex × OmnisArx | Phase 0 Legal &amp; Assurance Gate</a:t>
            </a:r>
          </a:p>
        </p:txBody>
      </p:sp>
      <p:pic>
        <p:nvPicPr>
          <p:cNvPr id="7" name="Picture 6" descr="WhatsApp Image 2026-03-30 at 16.13.52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0" y="256032"/>
            <a:ext cx="411480" cy="4114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 b="1">
                <a:solidFill>
                  <a:srgbClr val="12263F"/>
                </a:solidFill>
                <a:latin typeface="Aptos Display"/>
              </a:rPr>
              <a:t>Deliverable 1: Scope &amp; Responsibility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>
                <a:solidFill>
                  <a:srgbClr val="5A5A5A"/>
                </a:solidFill>
                <a:latin typeface="Aptos"/>
              </a:rPr>
              <a:t>Defines what the system does and does not do</a:t>
            </a:r>
          </a:p>
          <a:p>
            <a:pPr/>
            <a:r>
              <a:rPr sz="1800">
                <a:solidFill>
                  <a:srgbClr val="5A5A5A"/>
                </a:solidFill>
                <a:latin typeface="Aptos"/>
              </a:rPr>
              <a:t>Monitoring + notification only</a:t>
            </a:r>
          </a:p>
          <a:p>
            <a:pPr/>
            <a:r>
              <a:rPr sz="1800">
                <a:solidFill>
                  <a:srgbClr val="5A5A5A"/>
                </a:solidFill>
                <a:latin typeface="Aptos"/>
              </a:rPr>
              <a:t>Human confirmation required for booking</a:t>
            </a:r>
          </a:p>
          <a:p>
            <a:pPr/>
            <a:r>
              <a:rPr sz="1800">
                <a:solidFill>
                  <a:srgbClr val="5A5A5A"/>
                </a:solidFill>
                <a:latin typeface="Aptos"/>
              </a:rPr>
              <a:t>Not a decision maker / not a visa authority</a:t>
            </a:r>
          </a:p>
          <a:p>
            <a:pPr/>
            <a:r>
              <a:rPr sz="1800">
                <a:solidFill>
                  <a:srgbClr val="5A5A5A"/>
                </a:solidFill>
                <a:latin typeface="Aptos"/>
              </a:rPr>
              <a:t>User responsibility for final submission</a:t>
            </a:r>
          </a:p>
          <a:p>
            <a:pPr/>
            <a:r>
              <a:rPr sz="1800">
                <a:solidFill>
                  <a:srgbClr val="5A5A5A"/>
                </a:solidFill>
                <a:latin typeface="Aptos"/>
              </a:rPr>
              <a:t>Outcome: eliminates ambiguity and reduces legal exposure.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12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812280"/>
            <a:ext cx="9144000" cy="45720"/>
          </a:xfrm>
          <a:prstGeom prst="rect">
            <a:avLst/>
          </a:prstGeom>
          <a:solidFill>
            <a:srgbClr val="12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A5A5A"/>
                </a:solidFill>
                <a:latin typeface="Aptos"/>
              </a:defRPr>
            </a:pPr>
            <a:r>
              <a:t>Cortex × OmnisArx | Phase 0 Legal &amp; Assurance Gate</a:t>
            </a:r>
          </a:p>
        </p:txBody>
      </p:sp>
      <p:pic>
        <p:nvPicPr>
          <p:cNvPr id="7" name="Picture 6" descr="WhatsApp Image 2026-03-30 at 16.13.52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0" y="256032"/>
            <a:ext cx="411480" cy="4114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 b="1">
                <a:solidFill>
                  <a:srgbClr val="12263F"/>
                </a:solidFill>
                <a:latin typeface="Aptos Display"/>
              </a:rPr>
              <a:t>Deliverable 2: Data Processing Annex (DPA)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>
                <a:solidFill>
                  <a:srgbClr val="5A5A5A"/>
                </a:solidFill>
                <a:latin typeface="Aptos"/>
              </a:rPr>
              <a:t>Defines GDPR/KVKK alignment</a:t>
            </a:r>
          </a:p>
          <a:p>
            <a:pPr/>
            <a:r>
              <a:rPr sz="1800">
                <a:solidFill>
                  <a:srgbClr val="5A5A5A"/>
                </a:solidFill>
                <a:latin typeface="Aptos"/>
              </a:rPr>
              <a:t>Lawful basis (consent / legitimate interest)</a:t>
            </a:r>
          </a:p>
          <a:p>
            <a:pPr/>
            <a:r>
              <a:rPr sz="1800">
                <a:solidFill>
                  <a:srgbClr val="5A5A5A"/>
                </a:solidFill>
                <a:latin typeface="Aptos"/>
              </a:rPr>
              <a:t>Data minimization</a:t>
            </a:r>
          </a:p>
          <a:p>
            <a:pPr/>
            <a:r>
              <a:rPr sz="1800">
                <a:solidFill>
                  <a:srgbClr val="5A5A5A"/>
                </a:solidFill>
                <a:latin typeface="Aptos"/>
              </a:rPr>
              <a:t>Encryption at rest + in transit</a:t>
            </a:r>
          </a:p>
          <a:p>
            <a:pPr/>
            <a:r>
              <a:rPr sz="1800">
                <a:solidFill>
                  <a:srgbClr val="5A5A5A"/>
                </a:solidFill>
                <a:latin typeface="Aptos"/>
              </a:rPr>
              <a:t>Retention &amp; deletion policy</a:t>
            </a:r>
          </a:p>
          <a:p>
            <a:pPr/>
            <a:r>
              <a:rPr sz="1800">
                <a:solidFill>
                  <a:srgbClr val="5A5A5A"/>
                </a:solidFill>
                <a:latin typeface="Aptos"/>
              </a:rPr>
              <a:t>User rights (export / correction / deletion)</a:t>
            </a:r>
          </a:p>
          <a:p>
            <a:pPr/>
            <a:r>
              <a:rPr sz="1800">
                <a:solidFill>
                  <a:srgbClr val="5A5A5A"/>
                </a:solidFill>
                <a:latin typeface="Aptos"/>
              </a:rPr>
              <a:t>Audit log requirements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12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812280"/>
            <a:ext cx="9144000" cy="45720"/>
          </a:xfrm>
          <a:prstGeom prst="rect">
            <a:avLst/>
          </a:prstGeom>
          <a:solidFill>
            <a:srgbClr val="12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A5A5A"/>
                </a:solidFill>
                <a:latin typeface="Aptos"/>
              </a:defRPr>
            </a:pPr>
            <a:r>
              <a:t>Cortex × OmnisArx | Phase 0 Legal &amp; Assurance Gate</a:t>
            </a:r>
          </a:p>
        </p:txBody>
      </p:sp>
      <p:pic>
        <p:nvPicPr>
          <p:cNvPr id="7" name="Picture 6" descr="WhatsApp Image 2026-03-30 at 16.13.52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0" y="256032"/>
            <a:ext cx="411480" cy="4114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 b="1">
                <a:solidFill>
                  <a:srgbClr val="12263F"/>
                </a:solidFill>
                <a:latin typeface="Aptos Display"/>
              </a:rPr>
              <a:t>Deliverable 3: Third‑Party Terms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>
                <a:solidFill>
                  <a:srgbClr val="5A5A5A"/>
                </a:solidFill>
                <a:latin typeface="Aptos"/>
              </a:rPr>
              <a:t>Ensures operator compliance</a:t>
            </a:r>
          </a:p>
          <a:p>
            <a:pPr/>
            <a:r>
              <a:rPr sz="1800">
                <a:solidFill>
                  <a:srgbClr val="5A5A5A"/>
                </a:solidFill>
                <a:latin typeface="Aptos"/>
              </a:rPr>
              <a:t>Review terms of VFS, iDATA, BLS, Kosmos</a:t>
            </a:r>
          </a:p>
          <a:p>
            <a:pPr/>
            <a:r>
              <a:rPr sz="1800">
                <a:solidFill>
                  <a:srgbClr val="5A5A5A"/>
                </a:solidFill>
                <a:latin typeface="Aptos"/>
              </a:rPr>
              <a:t>Confirm allowable data access actions</a:t>
            </a:r>
          </a:p>
          <a:p>
            <a:pPr/>
            <a:r>
              <a:rPr sz="1800">
                <a:solidFill>
                  <a:srgbClr val="5A5A5A"/>
                </a:solidFill>
                <a:latin typeface="Aptos"/>
              </a:rPr>
              <a:t>Define polite request intervals</a:t>
            </a:r>
          </a:p>
          <a:p>
            <a:pPr/>
            <a:r>
              <a:rPr sz="1800">
                <a:solidFill>
                  <a:srgbClr val="5A5A5A"/>
                </a:solidFill>
                <a:latin typeface="Aptos"/>
              </a:rPr>
              <a:t>Identify restrictions and ambiguity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12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812280"/>
            <a:ext cx="9144000" cy="45720"/>
          </a:xfrm>
          <a:prstGeom prst="rect">
            <a:avLst/>
          </a:prstGeom>
          <a:solidFill>
            <a:srgbClr val="12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A5A5A"/>
                </a:solidFill>
                <a:latin typeface="Aptos"/>
              </a:defRPr>
            </a:pPr>
            <a:r>
              <a:t>Cortex × OmnisArx | Phase 0 Legal &amp; Assurance Gate</a:t>
            </a:r>
          </a:p>
        </p:txBody>
      </p:sp>
      <p:pic>
        <p:nvPicPr>
          <p:cNvPr id="7" name="Picture 6" descr="WhatsApp Image 2026-03-30 at 16.13.52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0" y="256032"/>
            <a:ext cx="411480" cy="4114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 b="1">
                <a:solidFill>
                  <a:srgbClr val="12263F"/>
                </a:solidFill>
                <a:latin typeface="Aptos Display"/>
              </a:rPr>
              <a:t>Deliverable 4: Liability &amp; Warranty Boundaries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>
                <a:solidFill>
                  <a:srgbClr val="5A5A5A"/>
                </a:solidFill>
                <a:latin typeface="Aptos"/>
              </a:rPr>
              <a:t>Establishes risk containment</a:t>
            </a:r>
          </a:p>
          <a:p>
            <a:pPr/>
            <a:r>
              <a:rPr sz="1800">
                <a:solidFill>
                  <a:srgbClr val="5A5A5A"/>
                </a:solidFill>
                <a:latin typeface="Aptos"/>
              </a:rPr>
              <a:t>No guarantee of slot availability</a:t>
            </a:r>
          </a:p>
          <a:p>
            <a:pPr/>
            <a:r>
              <a:rPr sz="1800">
                <a:solidFill>
                  <a:srgbClr val="5A5A5A"/>
                </a:solidFill>
                <a:latin typeface="Aptos"/>
              </a:rPr>
              <a:t>No liability for operator site changes/downtime</a:t>
            </a:r>
          </a:p>
          <a:p>
            <a:pPr/>
            <a:r>
              <a:rPr sz="1800">
                <a:solidFill>
                  <a:srgbClr val="5A5A5A"/>
                </a:solidFill>
                <a:latin typeface="Aptos"/>
              </a:rPr>
              <a:t>Notification delays not guaranteed</a:t>
            </a:r>
          </a:p>
          <a:p>
            <a:pPr/>
            <a:r>
              <a:rPr sz="1800">
                <a:solidFill>
                  <a:srgbClr val="5A5A5A"/>
                </a:solidFill>
                <a:latin typeface="Aptos"/>
              </a:rPr>
              <a:t>User responsible for final booking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12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812280"/>
            <a:ext cx="9144000" cy="45720"/>
          </a:xfrm>
          <a:prstGeom prst="rect">
            <a:avLst/>
          </a:prstGeom>
          <a:solidFill>
            <a:srgbClr val="12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A5A5A"/>
                </a:solidFill>
                <a:latin typeface="Aptos"/>
              </a:defRPr>
            </a:pPr>
            <a:r>
              <a:t>Cortex × OmnisArx | Phase 0 Legal &amp; Assurance Gate</a:t>
            </a:r>
          </a:p>
        </p:txBody>
      </p:sp>
      <p:pic>
        <p:nvPicPr>
          <p:cNvPr id="7" name="Picture 6" descr="WhatsApp Image 2026-03-30 at 16.13.52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0" y="256032"/>
            <a:ext cx="411480" cy="4114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 b="1">
                <a:solidFill>
                  <a:srgbClr val="12263F"/>
                </a:solidFill>
                <a:latin typeface="Aptos Display"/>
              </a:rPr>
              <a:t>Deliverable 5: Security Controls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>
                <a:solidFill>
                  <a:srgbClr val="5A5A5A"/>
                </a:solidFill>
                <a:latin typeface="Aptos"/>
              </a:rPr>
              <a:t>Minimum security baseline</a:t>
            </a:r>
          </a:p>
          <a:p>
            <a:pPr/>
            <a:r>
              <a:rPr sz="1800">
                <a:solidFill>
                  <a:srgbClr val="5A5A5A"/>
                </a:solidFill>
                <a:latin typeface="Aptos"/>
              </a:rPr>
              <a:t>Role‑based access</a:t>
            </a:r>
          </a:p>
          <a:p>
            <a:pPr/>
            <a:r>
              <a:rPr sz="1800">
                <a:solidFill>
                  <a:srgbClr val="5A5A5A"/>
                </a:solidFill>
                <a:latin typeface="Aptos"/>
              </a:rPr>
              <a:t>Audit logging</a:t>
            </a:r>
          </a:p>
          <a:p>
            <a:pPr/>
            <a:r>
              <a:rPr sz="1800">
                <a:solidFill>
                  <a:srgbClr val="5A5A5A"/>
                </a:solidFill>
                <a:latin typeface="Aptos"/>
              </a:rPr>
              <a:t>Credential handling policies</a:t>
            </a:r>
          </a:p>
          <a:p>
            <a:pPr/>
            <a:r>
              <a:rPr sz="1800">
                <a:solidFill>
                  <a:srgbClr val="5A5A5A"/>
                </a:solidFill>
                <a:latin typeface="Aptos"/>
              </a:rPr>
              <a:t>Secure storage for sensitive data</a:t>
            </a:r>
          </a:p>
          <a:p>
            <a:pPr/>
            <a:r>
              <a:rPr sz="1800">
                <a:solidFill>
                  <a:srgbClr val="5A5A5A"/>
                </a:solidFill>
                <a:latin typeface="Aptos"/>
              </a:rPr>
              <a:t>Incident response expectations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12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812280"/>
            <a:ext cx="9144000" cy="45720"/>
          </a:xfrm>
          <a:prstGeom prst="rect">
            <a:avLst/>
          </a:prstGeom>
          <a:solidFill>
            <a:srgbClr val="12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A5A5A"/>
                </a:solidFill>
                <a:latin typeface="Aptos"/>
              </a:defRPr>
            </a:pPr>
            <a:r>
              <a:t>Cortex × OmnisArx | Phase 0 Legal &amp; Assurance Gate</a:t>
            </a:r>
          </a:p>
        </p:txBody>
      </p:sp>
      <p:pic>
        <p:nvPicPr>
          <p:cNvPr id="7" name="Picture 6" descr="WhatsApp Image 2026-03-30 at 16.13.52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0" y="256032"/>
            <a:ext cx="411480" cy="4114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 b="1">
                <a:solidFill>
                  <a:srgbClr val="12263F"/>
                </a:solidFill>
                <a:latin typeface="Aptos Display"/>
              </a:rPr>
              <a:t>Deliverable 6: IP &amp; Ownership Addendum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>
                <a:solidFill>
                  <a:srgbClr val="5A5A5A"/>
                </a:solidFill>
                <a:latin typeface="Aptos"/>
              </a:rPr>
              <a:t>Confirms ownership &amp; transparency</a:t>
            </a:r>
          </a:p>
          <a:p>
            <a:pPr/>
            <a:r>
              <a:rPr sz="1800">
                <a:solidFill>
                  <a:srgbClr val="5A5A5A"/>
                </a:solidFill>
                <a:latin typeface="Aptos"/>
              </a:rPr>
              <a:t>OmnisArx ownership of code + IP</a:t>
            </a:r>
          </a:p>
          <a:p>
            <a:pPr/>
            <a:r>
              <a:rPr sz="1800">
                <a:solidFill>
                  <a:srgbClr val="5A5A5A"/>
                </a:solidFill>
                <a:latin typeface="Aptos"/>
              </a:rPr>
              <a:t>Full documentation and reproducibility</a:t>
            </a:r>
          </a:p>
          <a:p>
            <a:pPr/>
            <a:r>
              <a:rPr sz="1800">
                <a:solidFill>
                  <a:srgbClr val="5A5A5A"/>
                </a:solidFill>
                <a:latin typeface="Aptos"/>
              </a:rPr>
              <a:t>No black‑box modules</a:t>
            </a:r>
          </a:p>
          <a:p>
            <a:pPr/>
            <a:r>
              <a:rPr sz="1800">
                <a:solidFill>
                  <a:srgbClr val="5A5A5A"/>
                </a:solidFill>
                <a:latin typeface="Aptos"/>
              </a:rPr>
              <a:t>White‑label / scalability rights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12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812280"/>
            <a:ext cx="9144000" cy="45720"/>
          </a:xfrm>
          <a:prstGeom prst="rect">
            <a:avLst/>
          </a:prstGeom>
          <a:solidFill>
            <a:srgbClr val="12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A5A5A"/>
                </a:solidFill>
                <a:latin typeface="Aptos"/>
              </a:defRPr>
            </a:pPr>
            <a:r>
              <a:t>Cortex × OmnisArx | Phase 0 Legal &amp; Assurance Gate</a:t>
            </a:r>
          </a:p>
        </p:txBody>
      </p:sp>
      <p:pic>
        <p:nvPicPr>
          <p:cNvPr id="7" name="Picture 6" descr="WhatsApp Image 2026-03-30 at 16.13.52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0" y="256032"/>
            <a:ext cx="411480" cy="4114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 b="1">
                <a:solidFill>
                  <a:srgbClr val="12263F"/>
                </a:solidFill>
                <a:latin typeface="Aptos Display"/>
              </a:rPr>
              <a:t>Phase 0 Exit Criteria (Go/No‑Go)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>
                <a:solidFill>
                  <a:srgbClr val="5A5A5A"/>
                </a:solidFill>
                <a:latin typeface="Aptos"/>
              </a:rPr>
              <a:t>✅ All six deliverables approved</a:t>
            </a:r>
          </a:p>
          <a:p>
            <a:pPr/>
            <a:r>
              <a:rPr sz="1800">
                <a:solidFill>
                  <a:srgbClr val="5A5A5A"/>
                </a:solidFill>
                <a:latin typeface="Aptos"/>
              </a:rPr>
              <a:t>✅ Risk register accepted by OmnisArx</a:t>
            </a:r>
          </a:p>
          <a:p>
            <a:pPr/>
            <a:r>
              <a:rPr sz="1800">
                <a:solidFill>
                  <a:srgbClr val="5A5A5A"/>
                </a:solidFill>
                <a:latin typeface="Aptos"/>
              </a:rPr>
              <a:t>✅ Legal counsel sign‑off (if required)</a:t>
            </a:r>
          </a:p>
          <a:p>
            <a:pPr/>
            <a:r>
              <a:rPr sz="1800">
                <a:solidFill>
                  <a:srgbClr val="5A5A5A"/>
                </a:solidFill>
                <a:latin typeface="Aptos"/>
              </a:rPr>
              <a:t>➡ Move to Phase 1: Scope &amp; Requirements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12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812280"/>
            <a:ext cx="9144000" cy="45720"/>
          </a:xfrm>
          <a:prstGeom prst="rect">
            <a:avLst/>
          </a:prstGeom>
          <a:solidFill>
            <a:srgbClr val="12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A5A5A"/>
                </a:solidFill>
                <a:latin typeface="Aptos"/>
              </a:defRPr>
            </a:pPr>
            <a:r>
              <a:t>Cortex × OmnisArx | Phase 0 Legal &amp; Assurance Gate</a:t>
            </a:r>
          </a:p>
        </p:txBody>
      </p:sp>
      <p:pic>
        <p:nvPicPr>
          <p:cNvPr id="7" name="Picture 6" descr="WhatsApp Image 2026-03-30 at 16.13.52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0" y="256032"/>
            <a:ext cx="411480" cy="41148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 b="1">
                <a:solidFill>
                  <a:srgbClr val="12263F"/>
                </a:solidFill>
                <a:latin typeface="Aptos Display"/>
              </a:rPr>
              <a:t>Governance &amp; Accountability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>
                <a:solidFill>
                  <a:srgbClr val="5A5A5A"/>
                </a:solidFill>
                <a:latin typeface="Aptos"/>
              </a:rPr>
              <a:t>Cortex: drafts and proposes artifacts</a:t>
            </a:r>
          </a:p>
          <a:p>
            <a:pPr/>
            <a:r>
              <a:rPr sz="1800">
                <a:solidFill>
                  <a:srgbClr val="5A5A5A"/>
                </a:solidFill>
                <a:latin typeface="Aptos"/>
              </a:rPr>
              <a:t>OmnisArx: approves and signs</a:t>
            </a:r>
          </a:p>
          <a:p>
            <a:pPr/>
            <a:r>
              <a:rPr sz="1800">
                <a:solidFill>
                  <a:srgbClr val="5A5A5A"/>
                </a:solidFill>
                <a:latin typeface="Aptos"/>
              </a:rPr>
              <a:t>Legal Counsel (if engaged): validates compliance</a:t>
            </a:r>
          </a:p>
          <a:p>
            <a:pPr/>
            <a:r>
              <a:rPr sz="1800">
                <a:solidFill>
                  <a:srgbClr val="5A5A5A"/>
                </a:solidFill>
                <a:latin typeface="Aptos"/>
              </a:rPr>
              <a:t>Project Lead: ensures gate completion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12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812280"/>
            <a:ext cx="9144000" cy="45720"/>
          </a:xfrm>
          <a:prstGeom prst="rect">
            <a:avLst/>
          </a:prstGeom>
          <a:solidFill>
            <a:srgbClr val="12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A5A5A"/>
                </a:solidFill>
                <a:latin typeface="Aptos"/>
              </a:defRPr>
            </a:pPr>
            <a:r>
              <a:t>Cortex × OmnisArx | Phase 0 Legal &amp; Assurance Gate</a:t>
            </a:r>
          </a:p>
        </p:txBody>
      </p:sp>
      <p:pic>
        <p:nvPicPr>
          <p:cNvPr id="7" name="Picture 6" descr="WhatsApp Image 2026-03-30 at 16.13.52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0" y="256032"/>
            <a:ext cx="411480" cy="41148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 b="1">
                <a:solidFill>
                  <a:srgbClr val="12263F"/>
                </a:solidFill>
                <a:latin typeface="Aptos Display"/>
              </a:rPr>
              <a:t>Timeline (Recommended)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>
                <a:solidFill>
                  <a:srgbClr val="5A5A5A"/>
                </a:solidFill>
                <a:latin typeface="Aptos"/>
              </a:rPr>
              <a:t>T+0 to T+5 business days</a:t>
            </a:r>
          </a:p>
          <a:p>
            <a:pPr/>
            <a:r>
              <a:rPr sz="1800">
                <a:solidFill>
                  <a:srgbClr val="5A5A5A"/>
                </a:solidFill>
                <a:latin typeface="Aptos"/>
              </a:rPr>
              <a:t>Day 1: Draft deliverables</a:t>
            </a:r>
          </a:p>
          <a:p>
            <a:pPr/>
            <a:r>
              <a:rPr sz="1800">
                <a:solidFill>
                  <a:srgbClr val="5A5A5A"/>
                </a:solidFill>
                <a:latin typeface="Aptos"/>
              </a:rPr>
              <a:t>Day 2–3: Review with OmnisArx</a:t>
            </a:r>
          </a:p>
          <a:p>
            <a:pPr/>
            <a:r>
              <a:rPr sz="1800">
                <a:solidFill>
                  <a:srgbClr val="5A5A5A"/>
                </a:solidFill>
                <a:latin typeface="Aptos"/>
              </a:rPr>
              <a:t>Day 4: Legal revisions</a:t>
            </a:r>
          </a:p>
          <a:p>
            <a:pPr/>
            <a:r>
              <a:rPr sz="1800">
                <a:solidFill>
                  <a:srgbClr val="5A5A5A"/>
                </a:solidFill>
                <a:latin typeface="Aptos"/>
              </a:rPr>
              <a:t>Day 5: Final sign‑off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12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812280"/>
            <a:ext cx="9144000" cy="45720"/>
          </a:xfrm>
          <a:prstGeom prst="rect">
            <a:avLst/>
          </a:prstGeom>
          <a:solidFill>
            <a:srgbClr val="12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A5A5A"/>
                </a:solidFill>
                <a:latin typeface="Aptos"/>
              </a:defRPr>
            </a:pPr>
            <a:r>
              <a:t>Cortex × OmnisArx | Phase 0 Legal &amp; Assurance Gate</a:t>
            </a:r>
          </a:p>
        </p:txBody>
      </p:sp>
      <p:pic>
        <p:nvPicPr>
          <p:cNvPr id="7" name="Picture 6" descr="WhatsApp Image 2026-03-30 at 16.13.52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0" y="256032"/>
            <a:ext cx="411480" cy="4114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