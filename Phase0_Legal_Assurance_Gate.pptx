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0: Legal &amp; Assurance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Purpose: Establish legal, compliance, and risk clarity before any technical work begins.</a:t>
            </a:r>
          </a:p>
          <a:p>
            <a:pPr/>
            <a:r>
              <a:t>Principle: No build starts without signed legal assurances.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0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 **scope boundaries** and client responsibilities</a:t>
            </a:r>
          </a:p>
          <a:p>
            <a:pPr/>
            <a:r>
              <a:t>Confirm **data protection obligations**</a:t>
            </a:r>
          </a:p>
          <a:p>
            <a:pPr/>
            <a:r>
              <a:t>Verify **operator/third‑party compliance**</a:t>
            </a:r>
          </a:p>
          <a:p>
            <a:pPr/>
            <a:r>
              <a:t>Establish **liability &amp; warranty limits**</a:t>
            </a:r>
          </a:p>
          <a:p>
            <a:pPr/>
            <a:r>
              <a:t>Approve **security controls**</a:t>
            </a:r>
          </a:p>
          <a:p>
            <a:pPr/>
            <a:r>
              <a:t>Confirm **IP ownership &amp; transparency**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0 Mandatory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six must be approved before Phase 1:</a:t>
            </a:r>
          </a:p>
          <a:p>
            <a:pPr/>
            <a:r>
              <a:t>1) Scope &amp; Responsibility Statement</a:t>
            </a:r>
          </a:p>
          <a:p>
            <a:pPr/>
            <a:r>
              <a:t>2) Data Processing Annex (DPA)</a:t>
            </a:r>
          </a:p>
          <a:p>
            <a:pPr/>
            <a:r>
              <a:t>3) Third‑Party Terms Compliance Review</a:t>
            </a:r>
          </a:p>
          <a:p>
            <a:pPr/>
            <a:r>
              <a:t>4) Liability &amp; Warranty Boundary Clauses</a:t>
            </a:r>
          </a:p>
          <a:p>
            <a:pPr/>
            <a:r>
              <a:t>5) Security Controls Statement</a:t>
            </a:r>
          </a:p>
          <a:p>
            <a:pPr/>
            <a:r>
              <a:t>6) IP &amp; Ownership Addendum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1: Scope &amp; Responsibility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Defines what the system does and does not do</a:t>
            </a:r>
          </a:p>
          <a:p>
            <a:pPr/>
            <a:r>
              <a:t>Monitoring + notification only</a:t>
            </a:r>
          </a:p>
          <a:p>
            <a:pPr/>
            <a:r>
              <a:t>Human confirmation required for booking</a:t>
            </a:r>
          </a:p>
          <a:p>
            <a:pPr/>
            <a:r>
              <a:t>Not a decision maker / not a visa authority</a:t>
            </a:r>
          </a:p>
          <a:p>
            <a:pPr/>
            <a:r>
              <a:t>User responsibility for final submission</a:t>
            </a:r>
          </a:p>
          <a:p>
            <a:pPr/>
            <a:r>
              <a:t>Outcome: eliminates ambiguity and reduces legal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2: Data Processing Annex (DPA)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Defines GDPR/KVKK alignment</a:t>
            </a:r>
          </a:p>
          <a:p>
            <a:pPr/>
            <a:r>
              <a:t>Lawful basis (consent / legitimate interest)</a:t>
            </a:r>
          </a:p>
          <a:p>
            <a:pPr/>
            <a:r>
              <a:t>Data minimization</a:t>
            </a:r>
          </a:p>
          <a:p>
            <a:pPr/>
            <a:r>
              <a:t>Encryption at rest + in transit</a:t>
            </a:r>
          </a:p>
          <a:p>
            <a:pPr/>
            <a:r>
              <a:t>Retention &amp; deletion policy</a:t>
            </a:r>
          </a:p>
          <a:p>
            <a:pPr/>
            <a:r>
              <a:t>User rights (export / correction / deletion)</a:t>
            </a:r>
          </a:p>
          <a:p>
            <a:pPr/>
            <a:r>
              <a:t>Audit log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3: Third‑Party Terms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Ensures operator compliance</a:t>
            </a:r>
          </a:p>
          <a:p>
            <a:pPr/>
            <a:r>
              <a:t>Review terms of VFS, iDATA, BLS, Kosmos</a:t>
            </a:r>
          </a:p>
          <a:p>
            <a:pPr/>
            <a:r>
              <a:t>Confirm allowable data access actions</a:t>
            </a:r>
          </a:p>
          <a:p>
            <a:pPr/>
            <a:r>
              <a:t>Define polite request intervals</a:t>
            </a:r>
          </a:p>
          <a:p>
            <a:pPr/>
            <a:r>
              <a:t>Identify restrictions and ambiguity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4: Liability &amp; Warranty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Establishes risk containment</a:t>
            </a:r>
          </a:p>
          <a:p>
            <a:pPr/>
            <a:r>
              <a:t>No guarantee of slot availability</a:t>
            </a:r>
          </a:p>
          <a:p>
            <a:pPr/>
            <a:r>
              <a:t>No liability for operator site changes/downtime</a:t>
            </a:r>
          </a:p>
          <a:p>
            <a:pPr/>
            <a:r>
              <a:t>Notification delays not guaranteed</a:t>
            </a:r>
          </a:p>
          <a:p>
            <a:pPr/>
            <a:r>
              <a:t>User responsible for final booking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5: Security Controls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Minimum security baseline</a:t>
            </a:r>
          </a:p>
          <a:p>
            <a:pPr/>
            <a:r>
              <a:t>Role‑based access</a:t>
            </a:r>
          </a:p>
          <a:p>
            <a:pPr/>
            <a:r>
              <a:t>Audit logging</a:t>
            </a:r>
          </a:p>
          <a:p>
            <a:pPr/>
            <a:r>
              <a:t>Credential handling policies</a:t>
            </a:r>
          </a:p>
          <a:p>
            <a:pPr/>
            <a:r>
              <a:t>Secure storage for sensitive data</a:t>
            </a:r>
          </a:p>
          <a:p>
            <a:pPr/>
            <a:r>
              <a:t>Incident response expectations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6: IP &amp; Ownership Addendum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Confirms ownership &amp; transparency</a:t>
            </a:r>
          </a:p>
          <a:p>
            <a:pPr/>
            <a:r>
              <a:t>OmnisArx ownership of code + IP</a:t>
            </a:r>
          </a:p>
          <a:p>
            <a:pPr/>
            <a:r>
              <a:t>Full documentation and reproducibility</a:t>
            </a:r>
          </a:p>
          <a:p>
            <a:pPr/>
            <a:r>
              <a:t>No black‑box modules</a:t>
            </a:r>
          </a:p>
          <a:p>
            <a:pPr/>
            <a:r>
              <a:t>White‑label / scalability rights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0 Exit Criteria (Go/No‑Go)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✅ All six deliverables approved</a:t>
            </a:r>
          </a:p>
          <a:p>
            <a:pPr/>
            <a:r>
              <a:t>✅ Risk register accepted by OmnisArx</a:t>
            </a:r>
          </a:p>
          <a:p>
            <a:pPr/>
            <a:r>
              <a:t>✅ Legal counsel sign‑off (if required)</a:t>
            </a:r>
          </a:p>
          <a:p>
            <a:pPr/>
            <a:r>
              <a:t>➡ Move to Phase 1: Scope &amp;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Cortex: drafts and proposes artifacts</a:t>
            </a:r>
          </a:p>
          <a:p>
            <a:pPr/>
            <a:r>
              <a:t>OmnisArx: approves and signs</a:t>
            </a:r>
          </a:p>
          <a:p>
            <a:pPr/>
            <a:r>
              <a:t>Legal Counsel (if engaged): validates compliance</a:t>
            </a:r>
          </a:p>
          <a:p>
            <a:pPr/>
            <a:r>
              <a:t>Project Lead: ensures gate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T+0 to T+5 business days</a:t>
            </a:r>
          </a:p>
          <a:p>
            <a:pPr/>
            <a:r>
              <a:t>Day 1: Draft deliverables</a:t>
            </a:r>
          </a:p>
          <a:p>
            <a:pPr/>
            <a:r>
              <a:t>Day 2–3: Review with OmnisArx</a:t>
            </a:r>
          </a:p>
          <a:p>
            <a:pPr/>
            <a:r>
              <a:t>Day 4: Legal revisions</a:t>
            </a:r>
          </a:p>
          <a:p>
            <a:pPr/>
            <a:r>
              <a:t>Day 5: Final sign‑off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